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868C-FD6A-4025-A169-6FEEF2877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8A58E-135E-4F20-8787-ED42B7314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4097F-08D7-4BFA-AC20-EC04897B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7E7C5-8BED-4669-B6B2-D6EBBFCAF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77837-57B1-43C9-A527-BE5D19DE3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600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FDABB-AA22-4C3A-BD4E-0C30A972A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A919F-CBC5-4CF0-AD43-7FCAEBB17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07137-E732-46ED-BD4F-F8FFACED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3C958-2B1C-4BEF-96EA-DCE12D35A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5734-4123-4FE2-A587-8963740A0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01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A03F-E78F-4ABC-8428-0D8EEA8EB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6D93D-13CD-486F-9948-65A02954A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BA7A5-9B8A-4F64-9794-C4E3349A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79EC9-A2CD-43F1-83E2-134A231D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B9E1A-7D47-49A7-9D03-616B18CB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660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AC609-B620-4C10-823F-CF6508B7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BAE1-0E69-4DEA-B3E8-741EB8ACB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CA0F5-DB10-4530-A0B2-9B542E1E0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19453-5FE3-451B-B253-D202C607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24E4F-50BC-4583-B06B-E5CDB5A8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9DAA6-0DC7-4D50-9575-61A80577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94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38D27-86BB-4E69-8673-DF1C3510B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30007-DD3A-4DFA-A77F-07105593E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6FC77-4207-48AE-8F91-E018B3D4C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B3ACB-D605-4FBE-971E-8D4C914C0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92F34-8BB7-492B-A929-7CDFB5749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F1AFE-F1A9-4FCA-9238-494ADD4C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F9F14-C7BD-460A-8D44-E9E677E0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558F2F-6BD8-4D08-9B3E-D4F0B078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18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E587-4362-4545-9537-5E6DB623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F2A83-9B79-4307-8E53-B1E2B772C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6D293-B6E7-4C76-8883-D1B18C16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F781E-9EAC-4399-9BC5-89040B01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780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256037-CB39-4627-8E64-7247C021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234A5-91F4-472F-9F13-154ACAEE4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008E-FFF6-4D36-94D8-593A1ECE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74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34CF-7255-4B2A-A0B4-17EC4374F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DC0BA-E419-4242-87C5-8A061E854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C905F-CF69-4CCE-8689-95C40999C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B36D3-B0D4-46C5-868D-7517E970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F9C36-1F29-4E73-8E45-E61D01D66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A87AA-DA81-439C-AB98-117E5B3C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69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9FFB-7BEC-48F2-A9C7-E3CB412F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AE89D-06B7-4EF1-B5B6-FEFB05AB8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40536-85CD-4AF8-B0CB-8AB866C41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F4CC5-FCF2-413E-BD3A-0AEF74ED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8311A-4B4B-4402-8683-0E3339E4D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D35F1-BCD8-4880-8E5D-21DF169B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68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49861-2056-4BEB-B5FF-582B10AF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953F8-2D10-4DD9-A7D0-47A186E28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4FE4B-C019-4959-9DE0-D1DA6D22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DF1C0-4ACF-4389-BBF9-934269B9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54EF5-E7AB-4DFD-BACF-1BC79609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033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111EDB-3FC8-4BC3-A535-D25D893E5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30469-6FF2-43D7-A46B-6B2601D04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FAF57-3F3E-41C1-8DAA-25A01EE6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FE74A-139F-4DA6-B495-DA66BFB9E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6F74F-A3B3-4099-8E21-950216CE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574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24842-69C7-4E90-BAA5-A492B45AB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B83AA-4F56-474D-AA18-A5D10C648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F77F-0CD7-4FFE-B6AA-A5AFED648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5DA09-28E6-422F-9267-AC9485767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F3375-497C-40E7-BC3E-2DECCFE1F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BDB0A-509B-4C77-87E1-47C985B63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20103-3090-43BF-BEEE-9F910F8FF8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802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FB71A3-D099-42DC-A1AE-049792A1EED9}"/>
              </a:ext>
            </a:extLst>
          </p:cNvPr>
          <p:cNvSpPr txBox="1"/>
          <p:nvPr/>
        </p:nvSpPr>
        <p:spPr>
          <a:xfrm>
            <a:off x="403167" y="241070"/>
            <a:ext cx="5374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Neural Networks are powerful function approximators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884B37-6D32-4E42-B6F5-67F1FE3FBC1D}"/>
              </a:ext>
            </a:extLst>
          </p:cNvPr>
          <p:cNvSpPr txBox="1"/>
          <p:nvPr/>
        </p:nvSpPr>
        <p:spPr>
          <a:xfrm>
            <a:off x="1494906" y="850670"/>
            <a:ext cx="958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under some assumptions... you can approximate with </a:t>
            </a:r>
            <a:r>
              <a:rPr lang="en-GB" b="1" dirty="0"/>
              <a:t>Taylor Approximation </a:t>
            </a:r>
            <a:r>
              <a:rPr lang="en-GB" dirty="0"/>
              <a:t>(as sum of polynomials)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C063A-A407-4E74-86BE-092F1CDD3DDD}"/>
              </a:ext>
            </a:extLst>
          </p:cNvPr>
          <p:cNvSpPr txBox="1"/>
          <p:nvPr/>
        </p:nvSpPr>
        <p:spPr>
          <a:xfrm>
            <a:off x="1494906" y="2104505"/>
            <a:ext cx="1012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under some assumptions... you can approximate with </a:t>
            </a:r>
            <a:r>
              <a:rPr lang="en-GB" b="1" dirty="0"/>
              <a:t>Fourier Approximation </a:t>
            </a:r>
            <a:r>
              <a:rPr lang="en-GB" dirty="0"/>
              <a:t>(as sum of sines and cosines)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CFF2BA-0A90-4B49-919B-A470E47CF0B2}"/>
                  </a:ext>
                </a:extLst>
              </p:cNvPr>
              <p:cNvSpPr txBox="1"/>
              <p:nvPr/>
            </p:nvSpPr>
            <p:spPr>
              <a:xfrm>
                <a:off x="2212571" y="1285703"/>
                <a:ext cx="2598596" cy="5116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f(x)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C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de-CH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CFF2BA-0A90-4B49-919B-A470E47CF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571" y="1285703"/>
                <a:ext cx="2598596" cy="511615"/>
              </a:xfrm>
              <a:prstGeom prst="rect">
                <a:avLst/>
              </a:prstGeom>
              <a:blipFill>
                <a:blip r:embed="rId2"/>
                <a:stretch>
                  <a:fillRect l="-2113" t="-70238" b="-1226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BA4FE3-015E-4ED5-88F4-A4F1AC9E86DC}"/>
                  </a:ext>
                </a:extLst>
              </p:cNvPr>
              <p:cNvSpPr txBox="1"/>
              <p:nvPr/>
            </p:nvSpPr>
            <p:spPr>
              <a:xfrm>
                <a:off x="2212571" y="2426013"/>
                <a:ext cx="4598951" cy="506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f(x)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CH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C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de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func>
                          <m:funcPr>
                            <m:ctrlPr>
                              <a:rPr lang="de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CH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de-CH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de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de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𝑛𝑥</m:t>
                                    </m:r>
                                  </m:num>
                                  <m:den>
                                    <m:r>
                                      <a:rPr lang="de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de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func>
                          <m:funcPr>
                            <m:ctrlPr>
                              <a:rPr lang="de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CH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de-CH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de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de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𝑛𝑥</m:t>
                                    </m:r>
                                  </m:num>
                                  <m:den>
                                    <m:r>
                                      <a:rPr lang="de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de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BA4FE3-015E-4ED5-88F4-A4F1AC9E8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571" y="2426013"/>
                <a:ext cx="4598951" cy="506870"/>
              </a:xfrm>
              <a:prstGeom prst="rect">
                <a:avLst/>
              </a:prstGeom>
              <a:blipFill>
                <a:blip r:embed="rId3"/>
                <a:stretch>
                  <a:fillRect l="-1194" t="-73494" b="-1228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C7060AD-416F-4DF6-B6B4-862CE98E031F}"/>
              </a:ext>
            </a:extLst>
          </p:cNvPr>
          <p:cNvSpPr txBox="1"/>
          <p:nvPr/>
        </p:nvSpPr>
        <p:spPr>
          <a:xfrm>
            <a:off x="1494906" y="3358340"/>
            <a:ext cx="8619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under some assumptions... you can approximate with </a:t>
            </a:r>
            <a:r>
              <a:rPr lang="en-GB" b="1" dirty="0"/>
              <a:t>Multi Layer </a:t>
            </a:r>
            <a:r>
              <a:rPr lang="en-GB" b="1" dirty="0" err="1"/>
              <a:t>Perceptrons</a:t>
            </a:r>
            <a:r>
              <a:rPr lang="en-GB" b="1" dirty="0"/>
              <a:t> </a:t>
            </a:r>
            <a:br>
              <a:rPr lang="en-GB" b="1" dirty="0"/>
            </a:br>
            <a:r>
              <a:rPr lang="en-GB" dirty="0"/>
              <a:t>(as weighted sum of layers of neurons with same activation function, like sigmoid or </a:t>
            </a:r>
            <a:r>
              <a:rPr lang="en-GB" dirty="0" err="1"/>
              <a:t>ReLu</a:t>
            </a:r>
            <a:r>
              <a:rPr lang="en-GB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80F6DF-0FA5-4008-B223-B80D946EF2EF}"/>
                  </a:ext>
                </a:extLst>
              </p:cNvPr>
              <p:cNvSpPr txBox="1"/>
              <p:nvPr/>
            </p:nvSpPr>
            <p:spPr>
              <a:xfrm>
                <a:off x="2212571" y="4112141"/>
                <a:ext cx="2450223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  <m:r>
                      <a:rPr lang="de-CH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80F6DF-0FA5-4008-B223-B80D946EF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571" y="4112141"/>
                <a:ext cx="2450223" cy="380810"/>
              </a:xfrm>
              <a:prstGeom prst="rect">
                <a:avLst/>
              </a:prstGeom>
              <a:blipFill>
                <a:blip r:embed="rId4"/>
                <a:stretch>
                  <a:fillRect l="-2239" t="-6452" b="-25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014C8A-CFEB-4DFC-B91A-CF1D95815D40}"/>
                  </a:ext>
                </a:extLst>
              </p:cNvPr>
              <p:cNvSpPr txBox="1"/>
              <p:nvPr/>
            </p:nvSpPr>
            <p:spPr>
              <a:xfrm>
                <a:off x="3212177" y="4404548"/>
                <a:ext cx="3815083" cy="1795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C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de-CH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p>
                          <m:sSup>
                            <m:sSupPr>
                              <m:ctrlPr>
                                <a:rPr lang="de-C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de-CH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de-CH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C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de-CH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dirty="0"/>
                  <a:t>() is neurons </a:t>
                </a:r>
                <a:r>
                  <a:rPr lang="en-GB" dirty="0">
                    <a:solidFill>
                      <a:srgbClr val="FF0000"/>
                    </a:solidFill>
                  </a:rPr>
                  <a:t>activation function</a:t>
                </a:r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= weights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= bias term</a:t>
                </a:r>
                <a:endParaRPr lang="de-CH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𝑙𝑎𝑦𝑒𝑟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 …, 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𝑖𝑛𝑝𝑢𝑡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014C8A-CFEB-4DFC-B91A-CF1D95815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177" y="4404548"/>
                <a:ext cx="3815083" cy="1795171"/>
              </a:xfrm>
              <a:prstGeom prst="rect">
                <a:avLst/>
              </a:prstGeom>
              <a:blipFill>
                <a:blip r:embed="rId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AADFCF6-FB4E-4E5D-B020-5E05D8302DE8}"/>
              </a:ext>
            </a:extLst>
          </p:cNvPr>
          <p:cNvSpPr txBox="1"/>
          <p:nvPr/>
        </p:nvSpPr>
        <p:spPr>
          <a:xfrm>
            <a:off x="7757791" y="4106962"/>
            <a:ext cx="3522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Universal Approximation Theorem </a:t>
            </a:r>
          </a:p>
          <a:p>
            <a:r>
              <a:rPr lang="en-GB" dirty="0"/>
              <a:t>(</a:t>
            </a:r>
            <a:r>
              <a:rPr lang="en-GB" dirty="0" err="1"/>
              <a:t>Cybenko</a:t>
            </a:r>
            <a:r>
              <a:rPr lang="en-GB" dirty="0"/>
              <a:t> 1989, </a:t>
            </a:r>
            <a:r>
              <a:rPr lang="en-GB" dirty="0" err="1"/>
              <a:t>Hornik</a:t>
            </a:r>
            <a:r>
              <a:rPr lang="en-GB" dirty="0"/>
              <a:t> 1991)</a:t>
            </a:r>
          </a:p>
        </p:txBody>
      </p:sp>
      <p:pic>
        <p:nvPicPr>
          <p:cNvPr id="1026" name="Picture 2" descr="Activation functions used in the ML algorithms. (a) sigmoid activation... |  Download Scientific Diagram">
            <a:extLst>
              <a:ext uri="{FF2B5EF4-FFF2-40B4-BE49-F238E27FC236}">
                <a16:creationId xmlns:a16="http://schemas.microsoft.com/office/drawing/2014/main" id="{6D5D43FE-19D3-4380-810E-B64121B2B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791" y="5054614"/>
            <a:ext cx="3433600" cy="1373441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7C7E04-388B-48EC-9C8F-B52BA0F7D913}"/>
              </a:ext>
            </a:extLst>
          </p:cNvPr>
          <p:cNvCxnSpPr/>
          <p:nvPr/>
        </p:nvCxnSpPr>
        <p:spPr>
          <a:xfrm>
            <a:off x="6887094" y="4904073"/>
            <a:ext cx="822960" cy="3980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736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FB71A3-D099-42DC-A1AE-049792A1EED9}"/>
              </a:ext>
            </a:extLst>
          </p:cNvPr>
          <p:cNvSpPr txBox="1"/>
          <p:nvPr/>
        </p:nvSpPr>
        <p:spPr>
          <a:xfrm>
            <a:off x="403167" y="241070"/>
            <a:ext cx="930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Kolmogorov-Arnold representation theorem for function approximation (Superstition Theorem)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7060AD-416F-4DF6-B6B4-862CE98E031F}"/>
              </a:ext>
            </a:extLst>
          </p:cNvPr>
          <p:cNvSpPr txBox="1"/>
          <p:nvPr/>
        </p:nvSpPr>
        <p:spPr>
          <a:xfrm>
            <a:off x="1494906" y="781380"/>
            <a:ext cx="74765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under some assumptions... you can approximate with </a:t>
            </a:r>
            <a:r>
              <a:rPr lang="en-GB" b="1" dirty="0"/>
              <a:t>two layer KAN network</a:t>
            </a:r>
          </a:p>
          <a:p>
            <a:pPr lvl="1"/>
            <a:r>
              <a:rPr lang="en-GB" dirty="0"/>
              <a:t>(first layer = inner layer, vector to vector mapping)</a:t>
            </a:r>
            <a:br>
              <a:rPr lang="en-GB" dirty="0"/>
            </a:br>
            <a:r>
              <a:rPr lang="en-GB" dirty="0"/>
              <a:t>(second layer = outer layer, vector to scalar mapping)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80F6DF-0FA5-4008-B223-B80D946EF2EF}"/>
                  </a:ext>
                </a:extLst>
              </p:cNvPr>
              <p:cNvSpPr txBox="1"/>
              <p:nvPr/>
            </p:nvSpPr>
            <p:spPr>
              <a:xfrm>
                <a:off x="2212571" y="2083827"/>
                <a:ext cx="5170583" cy="415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f(x)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CH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d>
                          <m:dPr>
                            <m:ctrlPr>
                              <a:rPr lang="de-CH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de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CH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de-CH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de-CH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de-CH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de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°…°</m:t>
                            </m:r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de-CH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80F6DF-0FA5-4008-B223-B80D946EF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571" y="2083827"/>
                <a:ext cx="5170583" cy="415627"/>
              </a:xfrm>
              <a:prstGeom prst="rect">
                <a:avLst/>
              </a:prstGeom>
              <a:blipFill>
                <a:blip r:embed="rId2"/>
                <a:stretch>
                  <a:fillRect l="-1061" t="-101471" b="-160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014C8A-CFEB-4DFC-B91A-CF1D95815D40}"/>
                  </a:ext>
                </a:extLst>
              </p:cNvPr>
              <p:cNvSpPr txBox="1"/>
              <p:nvPr/>
            </p:nvSpPr>
            <p:spPr>
              <a:xfrm>
                <a:off x="2655224" y="2572545"/>
                <a:ext cx="5761385" cy="12645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GB" dirty="0"/>
                  <a:t> 	input variable (dimension p=1...n)</a:t>
                </a:r>
                <a:endParaRPr lang="de-CH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dirty="0"/>
                  <a:t>()		inner function (continuous, univariate)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GB" dirty="0"/>
                  <a:t> ()		outer functions (continuous, univariate)</a:t>
                </a:r>
              </a:p>
              <a:p>
                <a:r>
                  <a:rPr lang="en-GB" i="1" dirty="0">
                    <a:latin typeface="Cambria Math" panose="02040503050406030204" pitchFamily="18" charset="0"/>
                  </a:rPr>
                  <a:t>n</a:t>
                </a:r>
                <a:r>
                  <a:rPr lang="en-GB" dirty="0"/>
                  <a:t>		how many inputs you have</a:t>
                </a:r>
                <a:endParaRPr lang="de-CH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014C8A-CFEB-4DFC-B91A-CF1D95815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224" y="2572545"/>
                <a:ext cx="5761385" cy="1264577"/>
              </a:xfrm>
              <a:prstGeom prst="rect">
                <a:avLst/>
              </a:prstGeom>
              <a:blipFill>
                <a:blip r:embed="rId3"/>
                <a:stretch>
                  <a:fillRect l="-952" t="-1932" r="-212" b="-72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60989E1-D9FC-4A8C-A3F6-E4D4528FA04A}"/>
              </a:ext>
            </a:extLst>
          </p:cNvPr>
          <p:cNvSpPr txBox="1"/>
          <p:nvPr/>
        </p:nvSpPr>
        <p:spPr>
          <a:xfrm>
            <a:off x="1494906" y="4338384"/>
            <a:ext cx="6225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practically, more than two-layers used for better approximation, </a:t>
            </a:r>
            <a:br>
              <a:rPr lang="en-GB" dirty="0"/>
            </a:br>
            <a:r>
              <a:rPr lang="en-GB" dirty="0"/>
              <a:t>easier functions, and easier training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D7DE0A-D22B-4DE8-96E8-B47AC70D4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609" y="1493419"/>
            <a:ext cx="2971000" cy="387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4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FB71A3-D099-42DC-A1AE-049792A1EED9}"/>
              </a:ext>
            </a:extLst>
          </p:cNvPr>
          <p:cNvSpPr txBox="1"/>
          <p:nvPr/>
        </p:nvSpPr>
        <p:spPr>
          <a:xfrm>
            <a:off x="403167" y="241070"/>
            <a:ext cx="93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Kolmogorov-Arnold Training is Hard (Computationally + Instability / Dependency to Initialization)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7060AD-416F-4DF6-B6B4-862CE98E031F}"/>
              </a:ext>
            </a:extLst>
          </p:cNvPr>
          <p:cNvSpPr txBox="1"/>
          <p:nvPr/>
        </p:nvSpPr>
        <p:spPr>
          <a:xfrm>
            <a:off x="1494906" y="781380"/>
            <a:ext cx="3504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and depends on the edge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746DA-313E-4472-AFE0-7C23CD68799F}"/>
              </a:ext>
            </a:extLst>
          </p:cNvPr>
          <p:cNvSpPr txBox="1"/>
          <p:nvPr/>
        </p:nvSpPr>
        <p:spPr>
          <a:xfrm>
            <a:off x="403167" y="1274621"/>
            <a:ext cx="4636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Kolmogorov-Arnold Networks (KANs) vs. MLPs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4095EE-CD9C-44FF-835B-DE0DFDE4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075" y="1580157"/>
            <a:ext cx="7768410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446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E38A8E-70A6-44AE-AC4A-8458A2DE6CDA}"/>
              </a:ext>
            </a:extLst>
          </p:cNvPr>
          <p:cNvCxnSpPr>
            <a:cxnSpLocks/>
          </p:cNvCxnSpPr>
          <p:nvPr/>
        </p:nvCxnSpPr>
        <p:spPr>
          <a:xfrm flipV="1">
            <a:off x="6043684" y="3609892"/>
            <a:ext cx="2415350" cy="1707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FB71A3-D099-42DC-A1AE-049792A1EED9}"/>
              </a:ext>
            </a:extLst>
          </p:cNvPr>
          <p:cNvSpPr txBox="1"/>
          <p:nvPr/>
        </p:nvSpPr>
        <p:spPr>
          <a:xfrm>
            <a:off x="403167" y="241070"/>
            <a:ext cx="7233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Kolmogorov-Arnold Training Approaches (depends on edge function class)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8456AF-7FE2-422B-BCFA-FD885E5545DC}"/>
              </a:ext>
            </a:extLst>
          </p:cNvPr>
          <p:cNvSpPr txBox="1"/>
          <p:nvPr/>
        </p:nvSpPr>
        <p:spPr>
          <a:xfrm>
            <a:off x="1013430" y="1145190"/>
            <a:ext cx="610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1) Gradient-Descent-Based Training. B-SPLINES (Liu et al. 2024)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605A6-E6A6-4202-9338-1E5007ADA650}"/>
              </a:ext>
            </a:extLst>
          </p:cNvPr>
          <p:cNvSpPr txBox="1"/>
          <p:nvPr/>
        </p:nvSpPr>
        <p:spPr>
          <a:xfrm>
            <a:off x="1013430" y="2725714"/>
            <a:ext cx="50756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2) Basis Function Variation. </a:t>
            </a:r>
          </a:p>
          <a:p>
            <a:r>
              <a:rPr lang="en-GB" b="1" dirty="0"/>
              <a:t>	Wavelet Wav-Kan (</a:t>
            </a:r>
            <a:r>
              <a:rPr lang="en-GB" b="1" dirty="0" err="1"/>
              <a:t>Bozorgasl</a:t>
            </a:r>
            <a:r>
              <a:rPr lang="en-GB" b="1" dirty="0"/>
              <a:t> et al. 2024)</a:t>
            </a:r>
          </a:p>
          <a:p>
            <a:endParaRPr lang="en-GB" b="1" dirty="0"/>
          </a:p>
          <a:p>
            <a:r>
              <a:rPr lang="en-GB" b="1" dirty="0"/>
              <a:t>	Radial-Base Functions RBF (Ta et al. 2024)</a:t>
            </a:r>
          </a:p>
        </p:txBody>
      </p:sp>
      <p:pic>
        <p:nvPicPr>
          <p:cNvPr id="1030" name="Picture 6" descr="B-splines">
            <a:extLst>
              <a:ext uri="{FF2B5EF4-FFF2-40B4-BE49-F238E27FC236}">
                <a16:creationId xmlns:a16="http://schemas.microsoft.com/office/drawing/2014/main" id="{C1ADF6F6-3AF8-4468-BEAB-102E1626D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789" y="504640"/>
            <a:ext cx="2827672" cy="201976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0965DB-C5B0-4202-A1C7-35706075786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7118371" y="1329856"/>
            <a:ext cx="1190742" cy="165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992E895-A021-42A9-89A1-39804103D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352" y="2231580"/>
            <a:ext cx="1628444" cy="29084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638E7F-7CB2-4AF5-AF82-46E9A1F5106D}"/>
              </a:ext>
            </a:extLst>
          </p:cNvPr>
          <p:cNvCxnSpPr>
            <a:cxnSpLocks/>
          </p:cNvCxnSpPr>
          <p:nvPr/>
        </p:nvCxnSpPr>
        <p:spPr>
          <a:xfrm>
            <a:off x="6008114" y="3175884"/>
            <a:ext cx="32907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Radial basis function methods for PDE problems - Department of Information  Technology - Uppsala University">
            <a:extLst>
              <a:ext uri="{FF2B5EF4-FFF2-40B4-BE49-F238E27FC236}">
                <a16:creationId xmlns:a16="http://schemas.microsoft.com/office/drawing/2014/main" id="{C18943B1-F25B-4857-92C5-9173E57FE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42" y="2709071"/>
            <a:ext cx="2143125" cy="214312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956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Riehl  Kevin</dc:creator>
  <cp:lastModifiedBy>Riehl  Kevin</cp:lastModifiedBy>
  <cp:revision>13</cp:revision>
  <dcterms:created xsi:type="dcterms:W3CDTF">2026-03-13T14:16:10Z</dcterms:created>
  <dcterms:modified xsi:type="dcterms:W3CDTF">2026-03-13T20:04:27Z</dcterms:modified>
</cp:coreProperties>
</file>